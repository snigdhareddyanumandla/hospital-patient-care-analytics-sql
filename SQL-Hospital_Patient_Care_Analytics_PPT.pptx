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94824" y="3657026"/>
            <a:ext cx="7246189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Patient Care Analytics</a:t>
            </a:r>
            <a:endParaRPr sz="3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57907" y="1550381"/>
            <a:ext cx="7954013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Snigdha Reddy,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Computer Science Engineering (2026)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Aspiring Data Analyst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SQL, Python, Pandas and Data Analytics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focus: Hospital Patient Care Analytics using SQL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en-US" sz="2400" dirty="0"/>
              <a:t>www.linkedin.com/in/snigdha-reddy-anumandla-8abb90339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https://github.com/snigdhareddyanumandla</a:t>
            </a:r>
            <a:endParaRPr lang="en-IN" sz="2400" dirty="0"/>
          </a:p>
          <a:p>
            <a:pPr lvl="0"/>
            <a:endParaRPr lang="en-US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57907" y="527086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B039-AD1F-4506-8CC5-9E2548C1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1D5FA-98B1-FC62-B56C-37E4F8493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586" y="1529914"/>
            <a:ext cx="10515600" cy="4351338"/>
          </a:xfrm>
        </p:spPr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Patient Care Analytics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SQL-based healthcare data analysis project </a:t>
            </a:r>
          </a:p>
          <a:p>
            <a:pPr lvl="0">
              <a:lnSpc>
                <a:spcPct val="150000"/>
              </a:lnSpc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patients, appointments, treatments, doctors, and rooms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patient demand, appointment behaviour, treatment outcomes, waiting time, and operational performance 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lvl="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SQL 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operational data, identify important patterns and problems, and generate actionable business insights to support better scheduling, resource allocation, and patient care.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30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3480-DDC8-8E52-13DD-E98177F9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05310-49FC-A8AE-F111-11CC84E37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0985"/>
            <a:ext cx="5877560" cy="4351338"/>
          </a:xfrm>
        </p:spPr>
        <p:txBody>
          <a:bodyPr>
            <a:normAutofit lnSpcReduction="10000"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Hospital Patient Care Analytics?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generate large volumes of patient, appointment, treatment, doctor, and room data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it can be difficult to identify demand patterns and operational problems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helps transform raw healthcare data into meaningful information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can support better scheduling, resource utilization, patient care, and operational decision-making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CAFFB-08A0-39AA-F851-BC5C14D26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0" y="1690688"/>
            <a:ext cx="4795519" cy="345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7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493F-3DCB-B14C-52E9-61E79242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95D45-8A40-6428-3C41-6419DA8AA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134600" cy="4351338"/>
          </a:xfrm>
        </p:spPr>
        <p:txBody>
          <a:bodyPr/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CarePlus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Operations Data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dataset representing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CarePlus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operations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data related to patients, appointments, treatments, doctors, and rooms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provided in CSV format and imported into MySQL </a:t>
            </a:r>
          </a:p>
          <a:p>
            <a:pPr lvl="0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dataset to perform SQL-based analysis and business insights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👤 Patients | 📅 Appointments | 🩺 Treatments | 👨‍⚕️ Doctors | 🏥 Rooms</a:t>
            </a:r>
          </a:p>
        </p:txBody>
      </p:sp>
    </p:spTree>
    <p:extLst>
      <p:ext uri="{BB962C8B-B14F-4D97-AF65-F5344CB8AC3E}">
        <p14:creationId xmlns:p14="http://schemas.microsoft.com/office/powerpoint/2010/main" val="251187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E6AE-9FC9-9705-3094-CFE1F2D4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and TABLES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0878EA-BD95-9A40-2E7A-D3BCE8F21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883213"/>
              </p:ext>
            </p:extLst>
          </p:nvPr>
        </p:nvGraphicFramePr>
        <p:xfrm>
          <a:off x="838200" y="1825625"/>
          <a:ext cx="7462520" cy="4175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31260">
                  <a:extLst>
                    <a:ext uri="{9D8B030D-6E8A-4147-A177-3AD203B41FA5}">
                      <a16:colId xmlns:a16="http://schemas.microsoft.com/office/drawing/2014/main" val="3846489380"/>
                    </a:ext>
                  </a:extLst>
                </a:gridCol>
                <a:gridCol w="3731260">
                  <a:extLst>
                    <a:ext uri="{9D8B030D-6E8A-4147-A177-3AD203B41FA5}">
                      <a16:colId xmlns:a16="http://schemas.microsoft.com/office/drawing/2014/main" val="3570515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Table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Purpose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2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/>
                        <a:t>Patients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Stores patient details and demographic information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8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/>
                        <a:t>Appointments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Stores appointment booking and service-related information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8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/>
                        <a:t>Treatments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Stores treatment attempts, status, waiting time and duration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5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/>
                        <a:t>Doctors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Stores doctor information and availability/details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83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/>
                        <a:t>Rooms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Stores room information and room-related details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81186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329965F-06A5-A7D9-7F6D-E4AD2CD256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22"/>
          <a:stretch>
            <a:fillRect/>
          </a:stretch>
        </p:blipFill>
        <p:spPr>
          <a:xfrm>
            <a:off x="8458200" y="2174240"/>
            <a:ext cx="2677160" cy="33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4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FD75-9A6B-D126-9C35-BB0D73F25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7D297-79F3-A486-2974-104AC9802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lv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patient demographics, city, patient type, preferred time slot, and registration details.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lv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doctor name, specialty, rating, employment type, hire date, and active status.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lv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room type, floor, equipment, capacity, maintenance date, and availability.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lv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appointment date, patient, doctor, service type, priority, estimated cost, and booking channel. 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lv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treatment status, attempts, duration, waiting time, cost, and links to appointments, doctors, and rooms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65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65E85-58EB-2CBC-B457-56F215B16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27" y="0"/>
            <a:ext cx="11079145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TABLE RELATIONSHIPS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233D3-5754-1DED-ADC0-F170A0FF5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875" y="1446213"/>
            <a:ext cx="467868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Patient → Many Appointments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Doctor → Many Appointments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Appointment → Multiple Treatments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Doctor → Multiple Treatments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Room → Multiple Treatments over time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uniquely identify each record.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connect related tables and enable SQL JOIN operations.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582FC8C3-1A39-5EE1-64F5-392909DFBB8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588002" y="1066801"/>
            <a:ext cx="6248398" cy="511016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5400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CF5F-2F69-75FA-1451-34EC82BE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B78ED-C579-1929-FE3C-966B4D9F7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Operations Problem</a:t>
            </a:r>
          </a:p>
          <a:p>
            <a:pPr lvl="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patient demand and appointment behaviour. </a:t>
            </a:r>
          </a:p>
          <a:p>
            <a:pPr lvl="0" algn="just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treatment outcomes, waiting time, and treatment performance. </a:t>
            </a:r>
          </a:p>
          <a:p>
            <a:pPr lvl="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appointment problems such as cancellations, no-shows, and rescheduling. </a:t>
            </a:r>
          </a:p>
          <a:p>
            <a:pPr lvl="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doctor, room, service, and priority-level performance. </a:t>
            </a:r>
          </a:p>
          <a:p>
            <a:pPr lvl="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hospital data into actionable operational insights for better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74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07F2-D6FA-1DFB-B22D-91942F51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871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&amp; APPOINTMENT DEMAND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949CD-70FD-EA46-D7C8-74CCE960F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812" y="1374914"/>
            <a:ext cx="5944439" cy="5196708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Analysed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highest appointment activity?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 types have higher appointment volume?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 segments generate higher appointment value?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appointment demand vary geographically? </a:t>
            </a:r>
          </a:p>
          <a:p>
            <a:pPr marL="11430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Used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count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count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type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appointment value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appointment value </a:t>
            </a:r>
          </a:p>
          <a:p>
            <a:pPr lvl="0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volume</a:t>
            </a:r>
          </a:p>
          <a:p>
            <a:pPr lvl="0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85AF8-3A6B-04E4-2576-1D0A51550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271" y="1899138"/>
            <a:ext cx="4097142" cy="399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2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1AF85-569A-B7BA-FEAB-13F76FB2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APPOINTMENT BEHAVIOUR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10567-903D-76A7-BF86-CD9D76F70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531" y="1463883"/>
            <a:ext cx="5654530" cy="4816335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Analysed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patients have higher appointment activity?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patients have the highest cumulative estimated value?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higher active patient counts?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booking behaviour change over time?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patient segments contribute higher appointment value? </a:t>
            </a:r>
          </a:p>
          <a:p>
            <a:pPr marL="11430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Used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activity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count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estimated value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type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appointment count 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appointments </a:t>
            </a:r>
          </a:p>
          <a:p>
            <a:pPr lvl="0"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estimated appointment value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6CAA6-19EC-A617-47A1-37BC0594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870" y="1932962"/>
            <a:ext cx="5449556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3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14B5-3689-E61A-2E17-378AC50DE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11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74968-30ED-EADE-902A-341C31D5E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027906"/>
            <a:ext cx="5482214" cy="560038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percentage of treatments fall under each treatment status?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treatment duration and waiting time vary across service types?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higher treatment activity?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service types have longer treatment duration?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higher poor outcomes? </a:t>
            </a:r>
          </a:p>
          <a:p>
            <a:pPr marL="11430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Used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status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count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total treatments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type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treatment duration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</a:t>
            </a:r>
          </a:p>
          <a:p>
            <a:pPr marL="114300" lv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A7CE5-1AE0-7013-F4E9-FDF51F712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79" b="3159"/>
          <a:stretch>
            <a:fillRect/>
          </a:stretch>
        </p:blipFill>
        <p:spPr>
          <a:xfrm>
            <a:off x="6424574" y="1603457"/>
            <a:ext cx="4929226" cy="412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8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AC25-AFAA-E5D0-8679-70A0B02B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&amp; ROOM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F125C-DDDE-3CBD-9DB3-A631E756A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252"/>
            <a:ext cx="10717404" cy="5094514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Analysed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doctors handle the highest number of treatments?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treatment workload distributed among doctors?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doctors have higher treatment activity?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types of rooms are available?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doctor and room utilization be evaluated? </a:t>
            </a:r>
          </a:p>
          <a:p>
            <a:pPr marL="114300" indent="0">
              <a:buNone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Used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Specialty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count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status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rating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type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availability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capacity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activity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F9E8A-52B1-37D7-6B44-FD92A7537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253" y="1792420"/>
            <a:ext cx="4778154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98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0E97-23B8-54C4-90FA-D9788F93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&amp; APPOINTMENT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5A5F2-2628-DC7B-E71C-EE32E544A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316226" cy="4667250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Analysed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appointments require multiple treatment attempts?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waiting time higher for appointments requiring repeated attempts?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treatment delays be identified?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operational cases require additional attention?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hospital treatment processes be improved? </a:t>
            </a:r>
          </a:p>
          <a:p>
            <a:pPr marL="114300" indent="0">
              <a:buNone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Used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ID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attempts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duration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status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count </a:t>
            </a:r>
          </a:p>
          <a:p>
            <a:pPr lvl="0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priority</a:t>
            </a:r>
          </a:p>
          <a:p>
            <a:pPr marL="114300" indent="0">
              <a:buNone/>
            </a:pP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9E0DB-0404-6135-9FA9-6A1CAA54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69"/>
          <a:stretch>
            <a:fillRect/>
          </a:stretch>
        </p:blipFill>
        <p:spPr>
          <a:xfrm>
            <a:off x="6993652" y="2111701"/>
            <a:ext cx="4585655" cy="298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10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B392-BFCD-6704-FF8A-848FF0BA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 , CONCLUSION&amp; RECOMMENDATIONS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7B0525-0036-B9B5-18E2-997410119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23292"/>
              </p:ext>
            </p:extLst>
          </p:nvPr>
        </p:nvGraphicFramePr>
        <p:xfrm>
          <a:off x="7045290" y="1642254"/>
          <a:ext cx="4308510" cy="27093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08510">
                  <a:extLst>
                    <a:ext uri="{9D8B030D-6E8A-4147-A177-3AD203B41FA5}">
                      <a16:colId xmlns:a16="http://schemas.microsoft.com/office/drawing/2014/main" val="2776145617"/>
                    </a:ext>
                  </a:extLst>
                </a:gridCol>
              </a:tblGrid>
              <a:tr h="657081">
                <a:tc>
                  <a:txBody>
                    <a:bodyPr/>
                    <a:lstStyle/>
                    <a:p>
                      <a:r>
                        <a:rPr lang="en-IN" dirty="0"/>
                        <a:t>RECOMMENDATIONS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26576"/>
                  </a:ext>
                </a:extLst>
              </a:tr>
              <a:tr h="2052253">
                <a:tc>
                  <a:txBody>
                    <a:bodyPr/>
                    <a:lstStyle/>
                    <a:p>
                      <a:r>
                        <a:rPr lang="en-IN" dirty="0"/>
                        <a:t>• Optimize </a:t>
                      </a:r>
                      <a:r>
                        <a:rPr lang="en-IN" b="1" dirty="0"/>
                        <a:t>staff allocation</a:t>
                      </a:r>
                      <a:r>
                        <a:rPr lang="en-IN" dirty="0"/>
                        <a:t> based on treatment workload and patient demand.</a:t>
                      </a:r>
                      <a:br>
                        <a:rPr lang="en-IN" dirty="0"/>
                      </a:br>
                      <a:r>
                        <a:rPr lang="en-IN" dirty="0"/>
                        <a:t>• Improve </a:t>
                      </a:r>
                      <a:r>
                        <a:rPr lang="en-IN" b="1" dirty="0"/>
                        <a:t>appointment scheduling and patient communication</a:t>
                      </a:r>
                      <a:r>
                        <a:rPr lang="en-IN" dirty="0"/>
                        <a:t> to reduce cancellations and no-shows.</a:t>
                      </a:r>
                      <a:br>
                        <a:rPr lang="en-IN" dirty="0"/>
                      </a:br>
                      <a:r>
                        <a:rPr lang="en-IN" dirty="0"/>
                        <a:t>• Monitor </a:t>
                      </a:r>
                      <a:r>
                        <a:rPr lang="en-IN" b="1" dirty="0"/>
                        <a:t>waiting times and treatment outcomes</a:t>
                      </a:r>
                      <a:r>
                        <a:rPr lang="en-IN" dirty="0"/>
                        <a:t> regularly.</a:t>
                      </a:r>
                      <a:br>
                        <a:rPr lang="en-IN" dirty="0"/>
                      </a:br>
                      <a:r>
                        <a:rPr lang="en-IN" dirty="0"/>
                        <a:t>• Investigate </a:t>
                      </a:r>
                      <a:r>
                        <a:rPr lang="en-IN" b="1" dirty="0"/>
                        <a:t>repeated treatment cases</a:t>
                      </a:r>
                      <a:r>
                        <a:rPr lang="en-IN" dirty="0"/>
                        <a:t> to identify operational issues and improve patient care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3644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CE6790-0B15-82D8-67AD-5A6B1E0D4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729113"/>
              </p:ext>
            </p:extLst>
          </p:nvPr>
        </p:nvGraphicFramePr>
        <p:xfrm>
          <a:off x="838200" y="1592301"/>
          <a:ext cx="6010308" cy="2809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10308">
                  <a:extLst>
                    <a:ext uri="{9D8B030D-6E8A-4147-A177-3AD203B41FA5}">
                      <a16:colId xmlns:a16="http://schemas.microsoft.com/office/drawing/2014/main" val="2189705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INSIGHTS (BUSINESS UNDERSTANDING)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63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Kochi</a:t>
                      </a:r>
                      <a:r>
                        <a:rPr lang="en-IN" dirty="0"/>
                        <a:t> has the highest appointment activity with </a:t>
                      </a:r>
                      <a:r>
                        <a:rPr lang="en-IN" b="1" dirty="0"/>
                        <a:t>440 appointments</a:t>
                      </a:r>
                      <a:r>
                        <a:rPr lang="en-IN" dirty="0"/>
                        <a:t>, indicating higher patient demand.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P0216</a:t>
                      </a:r>
                      <a:r>
                        <a:rPr lang="en-IN" dirty="0"/>
                        <a:t> has the highest cumulative estimated appointment value of approximately </a:t>
                      </a:r>
                      <a:r>
                        <a:rPr lang="en-IN" b="1" dirty="0"/>
                        <a:t>81,348</a:t>
                      </a:r>
                      <a:r>
                        <a:rPr lang="en-IN" dirty="0"/>
                        <a:t>.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70.40% of treatments are completed</a:t>
                      </a:r>
                      <a:r>
                        <a:rPr lang="en-IN" dirty="0"/>
                        <a:t>, while the remaining treatments include rescheduled, cancelled, no-show and in-progress cases.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Dr. Doctor_080</a:t>
                      </a:r>
                      <a:r>
                        <a:rPr lang="en-IN" dirty="0"/>
                        <a:t> handles the highest treatment workload with </a:t>
                      </a:r>
                      <a:r>
                        <a:rPr lang="en-IN" b="1" dirty="0"/>
                        <a:t>66 treatments</a:t>
                      </a:r>
                      <a:r>
                        <a:rPr lang="en-IN" dirty="0"/>
                        <a:t>, indicating higher doctor workload.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Multiple treatment attempts are present for several appointments, highlighting cases that may require </a:t>
                      </a:r>
                      <a:r>
                        <a:rPr lang="en-IN" b="1" dirty="0"/>
                        <a:t>additional operational attention</a:t>
                      </a:r>
                      <a:r>
                        <a:rPr lang="en-IN" dirty="0"/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8970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AFD2E1-65F0-5CEF-CAC1-B1D9A2666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385509"/>
              </p:ext>
            </p:extLst>
          </p:nvPr>
        </p:nvGraphicFramePr>
        <p:xfrm>
          <a:off x="2174631" y="4512714"/>
          <a:ext cx="6527242" cy="2169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27242">
                  <a:extLst>
                    <a:ext uri="{9D8B030D-6E8A-4147-A177-3AD203B41FA5}">
                      <a16:colId xmlns:a16="http://schemas.microsoft.com/office/drawing/2014/main" val="2686406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INSIGHTS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53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• Successfully </a:t>
                      </a:r>
                      <a:r>
                        <a:rPr lang="en-IN" dirty="0" err="1"/>
                        <a:t>analyzed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hospital operations data using SQL</a:t>
                      </a:r>
                      <a:r>
                        <a:rPr lang="en-IN" dirty="0"/>
                        <a:t>.</a:t>
                      </a:r>
                      <a:br>
                        <a:rPr lang="en-IN" dirty="0"/>
                      </a:br>
                      <a:r>
                        <a:rPr lang="en-IN" dirty="0"/>
                        <a:t>• Studied </a:t>
                      </a:r>
                      <a:r>
                        <a:rPr lang="en-IN" b="1" dirty="0"/>
                        <a:t>patient and appointment demand</a:t>
                      </a:r>
                      <a:r>
                        <a:rPr lang="en-IN" dirty="0"/>
                        <a:t> across different dimensions.</a:t>
                      </a:r>
                      <a:br>
                        <a:rPr lang="en-IN" dirty="0"/>
                      </a:br>
                      <a:r>
                        <a:rPr lang="en-IN" dirty="0"/>
                        <a:t>• Evaluated </a:t>
                      </a:r>
                      <a:r>
                        <a:rPr lang="en-IN" b="1" dirty="0"/>
                        <a:t>treatment performance, waiting time, and treatment outcomes</a:t>
                      </a:r>
                      <a:r>
                        <a:rPr lang="en-IN" dirty="0"/>
                        <a:t>.</a:t>
                      </a:r>
                      <a:br>
                        <a:rPr lang="en-IN" dirty="0"/>
                      </a:br>
                      <a:r>
                        <a:rPr lang="en-IN" dirty="0"/>
                        <a:t>• </a:t>
                      </a:r>
                      <a:r>
                        <a:rPr lang="en-IN" dirty="0" err="1"/>
                        <a:t>Analyzed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doctor workload and operational performance</a:t>
                      </a:r>
                      <a:r>
                        <a:rPr lang="en-IN" dirty="0"/>
                        <a:t>.</a:t>
                      </a:r>
                      <a:br>
                        <a:rPr lang="en-IN" dirty="0"/>
                      </a:br>
                      <a:r>
                        <a:rPr lang="en-IN" dirty="0"/>
                        <a:t>• Identified </a:t>
                      </a:r>
                      <a:r>
                        <a:rPr lang="en-IN" b="1" dirty="0"/>
                        <a:t>appointment and treatment-related problems</a:t>
                      </a:r>
                      <a:r>
                        <a:rPr lang="en-IN" dirty="0"/>
                        <a:t>, including repeated treatment attempts.</a:t>
                      </a:r>
                      <a:br>
                        <a:rPr lang="en-IN" dirty="0"/>
                      </a:br>
                      <a:r>
                        <a:rPr lang="en-IN" dirty="0"/>
                        <a:t>• Converted SQL analysis into </a:t>
                      </a:r>
                      <a:r>
                        <a:rPr lang="en-IN" b="1" dirty="0"/>
                        <a:t>meaningful business insights and recommendations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41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872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1058</Words>
  <Application>Microsoft Office PowerPoint</Application>
  <PresentationFormat>Widescreen</PresentationFormat>
  <Paragraphs>156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Lato Black</vt:lpstr>
      <vt:lpstr>Libre Baskerville</vt:lpstr>
      <vt:lpstr>Times New Roman</vt:lpstr>
      <vt:lpstr>Arial</vt:lpstr>
      <vt:lpstr>Office Theme</vt:lpstr>
      <vt:lpstr>PowerPoint Presentation</vt:lpstr>
      <vt:lpstr>PowerPoint Presentation</vt:lpstr>
      <vt:lpstr>INTRODUCTION</vt:lpstr>
      <vt:lpstr>WHY THIS PROJECT?</vt:lpstr>
      <vt:lpstr>DATASET INFORMATION</vt:lpstr>
      <vt:lpstr>DATABASE and TABLES OVERVIEW</vt:lpstr>
      <vt:lpstr>TABLE STRUCTURE</vt:lpstr>
      <vt:lpstr>ER DIAGRAM AND TABLE RELATIONSHIPS</vt:lpstr>
      <vt:lpstr>PROBLEM STATEMENT</vt:lpstr>
      <vt:lpstr>PATIENT &amp; APPOINTMENT DEMAND</vt:lpstr>
      <vt:lpstr>PATIENT APPOINTMENT BEHAVIOUR</vt:lpstr>
      <vt:lpstr>TREATMENT PERFORMANCE</vt:lpstr>
      <vt:lpstr>DOCTOR &amp; ROOM PERFORMANCE</vt:lpstr>
      <vt:lpstr>TREATMENT &amp; APPOINTMENT PROBLEMS</vt:lpstr>
      <vt:lpstr>KEY BUSINESS INSIGHTS , CONCLUSION&amp;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snigdhareddy anumandla</cp:lastModifiedBy>
  <cp:revision>3</cp:revision>
  <dcterms:created xsi:type="dcterms:W3CDTF">2021-02-16T05:19:01Z</dcterms:created>
  <dcterms:modified xsi:type="dcterms:W3CDTF">2026-08-26T13:40:21Z</dcterms:modified>
</cp:coreProperties>
</file>